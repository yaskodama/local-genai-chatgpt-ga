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_rels/slide9.xml.rels><?xml version="1.0" encoding="UTF-8" standalone="yes"?><Relationships xmlns="http://schemas.openxmlformats.org/package/2006/relationships"/>
</file>

<file path=ppt/slides/_rels/slide10.xml.rels><?xml version="1.0" encoding="UTF-8" standalone="yes"?><Relationships xmlns="http://schemas.openxmlformats.org/package/2006/relationships"/>
</file>

<file path=ppt/slides/_rels/slide11.xml.rels><?xml version="1.0" encoding="UTF-8" standalone="yes"?><Relationships xmlns="http://schemas.openxmlformats.org/package/2006/relationships"/>
</file>

<file path=ppt/slides/_rels/slide12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520000" y="220000"/>
            <a:ext cx="11100000" cy="65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l"/>
            <a:r>
              <a:rPr lang="ja-JP" sz="3000" b="1">
                <a:solidFill>
                  <a:srgbClr val="17324D"/>
                </a:solidFill>
                <a:latin typeface="Yu Gothic"/>
                <a:ea typeface="Yu Gothic"/>
              </a:rPr>
              <a:t/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0000" y="900000"/>
            <a:ext cx="10800000" cy="130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ctr"/>
            <a:r>
              <a:rPr lang="ja-JP" sz="3800" b="1">
                <a:solidFill>
                  <a:srgbClr val="17324D"/>
                </a:solidFill>
                <a:latin typeface="Yu Gothic"/>
                <a:ea typeface="Yu Gothic"/>
              </a:rPr>
              <a:t>型付きAIエージェント記述言語の設計と実装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00000" y="2400000"/>
            <a:ext cx="8400000" cy="65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ctr"/>
            <a:r>
              <a:rPr lang="ja-JP" sz="2200">
                <a:solidFill>
                  <a:srgbClr val="3C4043"/>
                </a:solidFill>
                <a:latin typeface="Yu Gothic"/>
                <a:ea typeface="Yu Gothic"/>
              </a:rPr>
              <a:t>AIPL: Actor-based Intelligent Parallel Language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200000" y="4050000"/>
            <a:ext cx="7800000" cy="85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ctr"/>
            <a:r>
              <a:rPr lang="ja-JP" sz="2100">
                <a:solidFill>
                  <a:srgbClr val="202124"/>
                </a:solidFill>
                <a:latin typeface="Yu Gothic"/>
                <a:ea typeface="Yu Gothic"/>
              </a:rPr>
              <a:t>児玉靖司（Yasushi Kodama）</a:t>
            </a:r>
          </a:p>
          <a:p>
            <a:pPr algn="ctr"/>
            <a:r>
              <a:rPr lang="ja-JP" sz="1900">
                <a:solidFill>
                  <a:srgbClr val="202124"/>
                </a:solidFill>
                <a:latin typeface="Yu Gothic"/>
                <a:ea typeface="Yu Gothic"/>
              </a:rPr>
              <a:t>法政大学（Hosei University）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100000" y="5300000"/>
            <a:ext cx="3900000" cy="42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ctr"/>
            <a:r>
              <a:rPr lang="ja-JP" sz="1600">
                <a:solidFill>
                  <a:srgbClr val="5F6368"/>
                </a:solidFill>
                <a:latin typeface="Yu Gothic"/>
                <a:ea typeface="Yu Gothic"/>
              </a:rPr>
              <a:t>2026年5月12日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0000" y="6400000"/>
            <a:ext cx="6000000" cy="26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l"/>
            <a:r>
              <a:rPr lang="ja-JP" sz="1100">
                <a:solidFill>
                  <a:srgbClr val="5F6368"/>
                </a:solidFill>
                <a:latin typeface="Yu Gothic"/>
                <a:ea typeface="Yu Gothic"/>
              </a:rPr>
              <a:t>型付きAIエージェント記述言語の設計と実装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520000" y="220000"/>
            <a:ext cx="11100000" cy="65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l"/>
            <a:r>
              <a:rPr lang="ja-JP" sz="3000" b="1">
                <a:solidFill>
                  <a:srgbClr val="17324D"/>
                </a:solidFill>
                <a:latin typeface="Yu Gothic"/>
                <a:ea typeface="Yu Gothic"/>
              </a:rPr>
              <a:t>背景と問題意識</a:t>
            </a:r>
          </a:p>
        </p:txBody>
      </p:sp>
      <p:sp>
        <p:nvSpPr>
          <p:cNvPr id="20" name="Bullets 20"/>
          <p:cNvSpPr txBox="1"/>
          <p:nvPr/>
        </p:nvSpPr>
        <p:spPr>
          <a:xfrm>
            <a:off x="950000" y="1250000"/>
            <a:ext cx="10300000" cy="4300000"/>
          </a:xfrm>
          <a:prstGeom prst="rect">
            <a:avLst/>
          </a:prstGeom>
          <a:ln>
            <a:noFill/>
          </a:ln>
        </p:spPr>
        <p:txBody>
          <a:bodyPr wrap="square" lIns="60000" tIns="40000" rIns="60000" bIns="40000"/>
          <a:lstStyle/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生成AIアプリは自然言語、外部API、ファイル、ネットワーク、並行タスクを組み合わせる</a:t>
            </a:r>
          </a:p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AI呼び出しが通常の関数やHTTPラッパに埋もれると、同期点・権限・失敗時処理が見えにくい</a:t>
            </a:r>
          </a:p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複数AIエージェントの協調では、メッセージの流れとデータ所有権を明示する必要がある</a:t>
            </a:r>
          </a:p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本研究はAIエージェントを型付きアクターとして記述する言語を設計する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0000" y="6400000"/>
            <a:ext cx="6000000" cy="26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l"/>
            <a:r>
              <a:rPr lang="ja-JP" sz="1100">
                <a:solidFill>
                  <a:srgbClr val="5F6368"/>
                </a:solidFill>
                <a:latin typeface="Yu Gothic"/>
                <a:ea typeface="Yu Gothic"/>
              </a:rPr>
              <a:t>型付きAIエージェント記述言語の設計と実装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520000" y="220000"/>
            <a:ext cx="11100000" cy="65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l"/>
            <a:r>
              <a:rPr lang="ja-JP" sz="3000" b="1">
                <a:solidFill>
                  <a:srgbClr val="17324D"/>
                </a:solidFill>
                <a:latin typeface="Yu Gothic"/>
                <a:ea typeface="Yu Gothic"/>
              </a:rPr>
              <a:t>研究の貢献</a:t>
            </a:r>
          </a:p>
        </p:txBody>
      </p:sp>
      <p:sp>
        <p:nvSpPr>
          <p:cNvPr id="20" name="Bullets 20"/>
          <p:cNvSpPr txBox="1"/>
          <p:nvPr/>
        </p:nvSpPr>
        <p:spPr>
          <a:xfrm>
            <a:off x="950000" y="1300000"/>
            <a:ext cx="10300000" cy="4200000"/>
          </a:xfrm>
          <a:prstGeom prst="rect">
            <a:avLst/>
          </a:prstGeom>
          <a:ln>
            <a:noFill/>
          </a:ln>
        </p:spPr>
        <p:txBody>
          <a:bodyPr wrap="square" lIns="60000" tIns="40000" rIns="60000" bIns="40000"/>
          <a:lstStyle/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AIエージェントをアクターとして記述する AIPL の言語設計</a:t>
            </a:r>
          </a:p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send / now / future / await による同期・非同期通信の統一</a:t>
            </a:r>
          </a:p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型、効果、所有権、線形性、構造化並行を段階的に導入</a:t>
            </a:r>
          </a:p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OCaml、Python、JavaScript、C の複数処理系による実装と比較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0000" y="6400000"/>
            <a:ext cx="6000000" cy="26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l"/>
            <a:r>
              <a:rPr lang="ja-JP" sz="1100">
                <a:solidFill>
                  <a:srgbClr val="5F6368"/>
                </a:solidFill>
                <a:latin typeface="Yu Gothic"/>
                <a:ea typeface="Yu Gothic"/>
              </a:rPr>
              <a:t>型付きAIエージェント記述言語の設計と実装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520000" y="220000"/>
            <a:ext cx="11100000" cy="65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l"/>
            <a:r>
              <a:rPr lang="ja-JP" sz="3000" b="1">
                <a:solidFill>
                  <a:srgbClr val="17324D"/>
                </a:solidFill>
                <a:latin typeface="Yu Gothic"/>
                <a:ea typeface="Yu Gothic"/>
              </a:rPr>
              <a:t>AIPLの基本モデル</a:t>
            </a:r>
          </a:p>
        </p:txBody>
      </p:sp>
      <p:sp>
        <p:nvSpPr>
          <p:cNvPr id="20" name="Box 20"/>
          <p:cNvSpPr/>
          <p:nvPr/>
        </p:nvSpPr>
        <p:spPr>
          <a:xfrm>
            <a:off x="850000" y="1600000"/>
            <a:ext cx="2300000" cy="900000"/>
          </a:xfrm>
          <a:prstGeom prst="roundRect">
            <a:avLst/>
          </a:prstGeom>
          <a:solidFill>
            <a:srgbClr val="E8F0FE"/>
          </a:solidFill>
          <a:ln w="16000">
            <a:solidFill>
              <a:srgbClr val="4A67D6"/>
            </a:solidFill>
          </a:ln>
        </p:spPr>
        <p:txBody>
          <a:bodyPr wrap="square" anchor="ctr"/>
          <a:lstStyle/>
          <a:p>
            <a:pPr algn="ctr"/>
            <a:r>
              <a:rPr lang="ja-JP" sz="1900" b="1">
                <a:solidFill>
                  <a:srgbClr val="202124"/>
                </a:solidFill>
                <a:latin typeface="Yu Gothic"/>
                <a:ea typeface="Yu Gothic"/>
              </a:rPr>
              <a:t>User Actor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300000" y="1750000"/>
            <a:ext cx="800000" cy="45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ctr"/>
            <a:r>
              <a:rPr lang="ja-JP" sz="1700" b="1">
                <a:solidFill>
                  <a:srgbClr val="4A67D6"/>
                </a:solidFill>
                <a:latin typeface="Yu Gothic"/>
                <a:ea typeface="Yu Gothic"/>
              </a:rPr>
              <a:t>send</a:t>
            </a:r>
          </a:p>
        </p:txBody>
      </p:sp>
      <p:sp>
        <p:nvSpPr>
          <p:cNvPr id="22" name="Box 22"/>
          <p:cNvSpPr/>
          <p:nvPr/>
        </p:nvSpPr>
        <p:spPr>
          <a:xfrm>
            <a:off x="4250000" y="1600000"/>
            <a:ext cx="2500000" cy="900000"/>
          </a:xfrm>
          <a:prstGeom prst="roundRect">
            <a:avLst/>
          </a:prstGeom>
          <a:solidFill>
            <a:srgbClr val="E6F4EA"/>
          </a:solidFill>
          <a:ln w="16000">
            <a:solidFill>
              <a:srgbClr val="188038"/>
            </a:solidFill>
          </a:ln>
        </p:spPr>
        <p:txBody>
          <a:bodyPr wrap="square" anchor="ctr"/>
          <a:lstStyle/>
          <a:p>
            <a:pPr algn="ctr"/>
            <a:r>
              <a:rPr lang="ja-JP" sz="1900" b="1">
                <a:solidFill>
                  <a:srgbClr val="202124"/>
                </a:solidFill>
                <a:latin typeface="Yu Gothic"/>
                <a:ea typeface="Yu Gothic"/>
              </a:rPr>
              <a:t>Worker Actor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50000" y="1750000"/>
            <a:ext cx="900000" cy="45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ctr"/>
            <a:r>
              <a:rPr lang="ja-JP" sz="1700" b="1">
                <a:solidFill>
                  <a:srgbClr val="4A67D6"/>
                </a:solidFill>
                <a:latin typeface="Yu Gothic"/>
                <a:ea typeface="Yu Gothic"/>
              </a:rPr>
              <a:t>future</a:t>
            </a:r>
          </a:p>
        </p:txBody>
      </p:sp>
      <p:sp>
        <p:nvSpPr>
          <p:cNvPr id="24" name="Box 24"/>
          <p:cNvSpPr/>
          <p:nvPr/>
        </p:nvSpPr>
        <p:spPr>
          <a:xfrm>
            <a:off x="8150000" y="1600000"/>
            <a:ext cx="2600000" cy="900000"/>
          </a:xfrm>
          <a:prstGeom prst="roundRect">
            <a:avLst/>
          </a:prstGeom>
          <a:solidFill>
            <a:srgbClr val="FEF7E0"/>
          </a:solidFill>
          <a:ln w="16000">
            <a:solidFill>
              <a:srgbClr val="F29900"/>
            </a:solidFill>
          </a:ln>
        </p:spPr>
        <p:txBody>
          <a:bodyPr wrap="square" anchor="ctr"/>
          <a:lstStyle/>
          <a:p>
            <a:pPr algn="ctr"/>
            <a:r>
              <a:rPr lang="ja-JP" sz="1900" b="1">
                <a:solidFill>
                  <a:srgbClr val="202124"/>
                </a:solidFill>
                <a:latin typeface="Yu Gothic"/>
                <a:ea typeface="Yu Gothic"/>
              </a:rPr>
              <a:t>AI Actor</a:t>
            </a:r>
          </a:p>
        </p:txBody>
      </p:sp>
      <p:sp>
        <p:nvSpPr>
          <p:cNvPr id="25" name="Bullets 25"/>
          <p:cNvSpPr txBox="1"/>
          <p:nvPr/>
        </p:nvSpPr>
        <p:spPr>
          <a:xfrm>
            <a:off x="1150000" y="3300000"/>
            <a:ext cx="9600000" cy="1700000"/>
          </a:xfrm>
          <a:prstGeom prst="rect">
            <a:avLst/>
          </a:prstGeom>
          <a:ln>
            <a:noFill/>
          </a:ln>
        </p:spPr>
        <p:txBody>
          <a:bodyPr wrap="square" lIns="60000" tIns="40000" rIns="60000" bIns="40000"/>
          <a:lstStyle/>
          <a:p>
            <a:pPr marL="260000" indent="-180000">
              <a:buChar char="•"/>
            </a:pPr>
            <a:r>
              <a:rPr lang="ja-JP" sz="2000">
                <a:solidFill>
                  <a:srgbClr val="202124"/>
                </a:solidFill>
                <a:latin typeface="Yu Gothic"/>
                <a:ea typeface="Yu Gothic"/>
              </a:rPr>
              <a:t>各 class のインスタンスがメールボックスを持つアクターとして実行される</a:t>
            </a:r>
          </a:p>
          <a:p>
            <a:pPr marL="260000" indent="-180000">
              <a:buChar char="•"/>
            </a:pPr>
            <a:r>
              <a:rPr lang="ja-JP" sz="2000">
                <a:solidFill>
                  <a:srgbClr val="202124"/>
                </a:solidFill>
                <a:latin typeface="Yu Gothic"/>
                <a:ea typeface="Yu Gothic"/>
              </a:rPr>
              <a:t>now は reply を待つ同期呼び出し、future は後続の await で結果を取得する</a:t>
            </a:r>
          </a:p>
          <a:p>
            <a:pPr marL="260000" indent="-180000">
              <a:buChar char="•"/>
            </a:pPr>
            <a:r>
              <a:rPr lang="ja-JP" sz="2000">
                <a:solidFill>
                  <a:srgbClr val="202124"/>
                </a:solidFill>
                <a:latin typeface="Yu Gothic"/>
                <a:ea typeface="Yu Gothic"/>
              </a:rPr>
              <a:t>AI呼び出しもアクター通信の一部として扱う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0000" y="6400000"/>
            <a:ext cx="6000000" cy="26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l"/>
            <a:r>
              <a:rPr lang="ja-JP" sz="1100">
                <a:solidFill>
                  <a:srgbClr val="5F6368"/>
                </a:solidFill>
                <a:latin typeface="Yu Gothic"/>
                <a:ea typeface="Yu Gothic"/>
              </a:rPr>
              <a:t>型付きAIエージェント記述言語の設計と実装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520000" y="220000"/>
            <a:ext cx="11100000" cy="65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l"/>
            <a:r>
              <a:rPr lang="ja-JP" sz="3000" b="1">
                <a:solidFill>
                  <a:srgbClr val="17324D"/>
                </a:solidFill>
                <a:latin typeface="Yu Gothic"/>
                <a:ea typeface="Yu Gothic"/>
              </a:rPr>
              <a:t>言語機能</a:t>
            </a:r>
          </a:p>
        </p:txBody>
      </p:sp>
      <p:sp>
        <p:nvSpPr>
          <p:cNvPr id="20" name="Bullets 20"/>
          <p:cNvSpPr txBox="1"/>
          <p:nvPr/>
        </p:nvSpPr>
        <p:spPr>
          <a:xfrm>
            <a:off x="850000" y="1250000"/>
            <a:ext cx="5200000" cy="4300000"/>
          </a:xfrm>
          <a:prstGeom prst="rect">
            <a:avLst/>
          </a:prstGeom>
          <a:ln>
            <a:noFill/>
          </a:ln>
        </p:spPr>
        <p:txBody>
          <a:bodyPr wrap="square" lIns="60000" tIns="40000" rIns="60000" bIns="40000"/>
          <a:lstStyle/>
          <a:p>
            <a:pPr marL="260000" indent="-180000">
              <a:buChar char="•"/>
            </a:pPr>
            <a:r>
              <a:rPr lang="ja-JP" sz="1900">
                <a:solidFill>
                  <a:srgbClr val="202124"/>
                </a:solidFill>
                <a:latin typeface="Yu Gothic"/>
                <a:ea typeface="Yu Gothic"/>
              </a:rPr>
              <a:t>class / method / var によるアクター定義</a:t>
            </a:r>
          </a:p>
          <a:p>
            <a:pPr marL="260000" indent="-180000">
              <a:buChar char="•"/>
            </a:pPr>
            <a:r>
              <a:rPr lang="ja-JP" sz="1900">
                <a:solidFill>
                  <a:srgbClr val="202124"/>
                </a:solidFill>
                <a:latin typeface="Yu Gothic"/>
                <a:ea typeface="Yu Gothic"/>
              </a:rPr>
              <a:t>send: 非同期メッセージ送信</a:t>
            </a:r>
          </a:p>
          <a:p>
            <a:pPr marL="260000" indent="-180000">
              <a:buChar char="•"/>
            </a:pPr>
            <a:r>
              <a:rPr lang="ja-JP" sz="1900">
                <a:solidFill>
                  <a:srgbClr val="202124"/>
                </a:solidFill>
                <a:latin typeface="Yu Gothic"/>
                <a:ea typeface="Yu Gothic"/>
              </a:rPr>
              <a:t>now: 返信を待つ同期呼び出し</a:t>
            </a:r>
          </a:p>
          <a:p>
            <a:pPr marL="260000" indent="-180000">
              <a:buChar char="•"/>
            </a:pPr>
            <a:r>
              <a:rPr lang="ja-JP" sz="1900">
                <a:solidFill>
                  <a:srgbClr val="202124"/>
                </a:solidFill>
                <a:latin typeface="Yu Gothic"/>
                <a:ea typeface="Yu Gothic"/>
              </a:rPr>
              <a:t>future / await: 遅延結果の明示</a:t>
            </a:r>
          </a:p>
          <a:p>
            <a:pPr marL="260000" indent="-180000">
              <a:buChar char="•"/>
            </a:pPr>
            <a:r>
              <a:rPr lang="ja-JP" sz="1900">
                <a:solidFill>
                  <a:srgbClr val="202124"/>
                </a:solidFill>
                <a:latin typeface="Yu Gothic"/>
                <a:ea typeface="Yu Gothic"/>
              </a:rPr>
              <a:t>become: 実行中の振る舞い変更</a:t>
            </a:r>
          </a:p>
        </p:txBody>
      </p:sp>
      <p:sp>
        <p:nvSpPr>
          <p:cNvPr id="21" name="Bullets 21"/>
          <p:cNvSpPr txBox="1"/>
          <p:nvPr/>
        </p:nvSpPr>
        <p:spPr>
          <a:xfrm>
            <a:off x="6450000" y="1250000"/>
            <a:ext cx="5200000" cy="4300000"/>
          </a:xfrm>
          <a:prstGeom prst="rect">
            <a:avLst/>
          </a:prstGeom>
          <a:ln>
            <a:noFill/>
          </a:ln>
        </p:spPr>
        <p:txBody>
          <a:bodyPr wrap="square" lIns="60000" tIns="40000" rIns="60000" bIns="40000"/>
          <a:lstStyle/>
          <a:p>
            <a:pPr marL="260000" indent="-180000">
              <a:buChar char="•"/>
            </a:pPr>
            <a:r>
              <a:rPr lang="ja-JP" sz="1900">
                <a:solidFill>
                  <a:srgbClr val="202124"/>
                </a:solidFill>
                <a:latin typeface="Yu Gothic"/>
                <a:ea typeface="Yu Gothic"/>
              </a:rPr>
              <a:t>ai_call 系の組み込み関数</a:t>
            </a:r>
          </a:p>
          <a:p>
            <a:pPr marL="260000" indent="-180000">
              <a:buChar char="•"/>
            </a:pPr>
            <a:r>
              <a:rPr lang="ja-JP" sz="1900">
                <a:solidFill>
                  <a:srgbClr val="202124"/>
                </a:solidFill>
                <a:latin typeface="Yu Gothic"/>
                <a:ea typeface="Yu Gothic"/>
              </a:rPr>
              <a:t>AIアクターとしての ask/reply</a:t>
            </a:r>
          </a:p>
          <a:p>
            <a:pPr marL="260000" indent="-180000">
              <a:buChar char="•"/>
            </a:pPr>
            <a:r>
              <a:rPr lang="ja-JP" sz="1900">
                <a:solidFill>
                  <a:srgbClr val="202124"/>
                </a:solidFill>
                <a:latin typeface="Yu Gothic"/>
                <a:ea typeface="Yu Gothic"/>
              </a:rPr>
              <a:t>動的コンパイルと spawn</a:t>
            </a:r>
          </a:p>
          <a:p>
            <a:pPr marL="260000" indent="-180000">
              <a:buChar char="•"/>
            </a:pPr>
            <a:r>
              <a:rPr lang="ja-JP" sz="1900">
                <a:solidFill>
                  <a:srgbClr val="202124"/>
                </a:solidFill>
                <a:latin typeface="Yu Gothic"/>
                <a:ea typeface="Yu Gothic"/>
              </a:rPr>
              <a:t>メソッドインジェクション</a:t>
            </a:r>
          </a:p>
          <a:p>
            <a:pPr marL="260000" indent="-180000">
              <a:buChar char="•"/>
            </a:pPr>
            <a:r>
              <a:rPr lang="ja-JP" sz="1900">
                <a:solidFill>
                  <a:srgbClr val="202124"/>
                </a:solidFill>
                <a:latin typeface="Yu Gothic"/>
                <a:ea typeface="Yu Gothic"/>
              </a:rPr>
              <a:t>mock provider によるオフライン検証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0000" y="6400000"/>
            <a:ext cx="6000000" cy="26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l"/>
            <a:r>
              <a:rPr lang="ja-JP" sz="1100">
                <a:solidFill>
                  <a:srgbClr val="5F6368"/>
                </a:solidFill>
                <a:latin typeface="Yu Gothic"/>
                <a:ea typeface="Yu Gothic"/>
              </a:rPr>
              <a:t>型付きAIエージェント記述言語の設計と実装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520000" y="220000"/>
            <a:ext cx="11100000" cy="65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l"/>
            <a:r>
              <a:rPr lang="ja-JP" sz="3000" b="1">
                <a:solidFill>
                  <a:srgbClr val="17324D"/>
                </a:solidFill>
                <a:latin typeface="Yu Gothic"/>
                <a:ea typeface="Yu Gothic"/>
              </a:rPr>
              <a:t>型システム</a:t>
            </a:r>
          </a:p>
        </p:txBody>
      </p:sp>
      <p:sp>
        <p:nvSpPr>
          <p:cNvPr id="20" name="Bullets 20"/>
          <p:cNvSpPr txBox="1"/>
          <p:nvPr/>
        </p:nvSpPr>
        <p:spPr>
          <a:xfrm>
            <a:off x="900000" y="1250000"/>
            <a:ext cx="10300000" cy="4300000"/>
          </a:xfrm>
          <a:prstGeom prst="rect">
            <a:avLst/>
          </a:prstGeom>
          <a:ln>
            <a:noFill/>
          </a:ln>
        </p:spPr>
        <p:txBody>
          <a:bodyPr wrap="square" lIns="60000" tIns="40000" rIns="60000" bIns="40000"/>
          <a:lstStyle/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基本型: int, float, string, bool</a:t>
            </a:r>
          </a:p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構造型: array[T], tuple, record, Union, 型変数, 長さ付き配列</a:t>
            </a:r>
          </a:p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未注釈領域は any として扱う段階的型付け</a:t>
            </a:r>
          </a:p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transient cast により any から具体型へ入る境界を実行時検査</a:t>
            </a:r>
          </a:p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注釈された領域の局所的安全性を重視する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0000" y="6400000"/>
            <a:ext cx="6000000" cy="26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l"/>
            <a:r>
              <a:rPr lang="ja-JP" sz="1100">
                <a:solidFill>
                  <a:srgbClr val="5F6368"/>
                </a:solidFill>
                <a:latin typeface="Yu Gothic"/>
                <a:ea typeface="Yu Gothic"/>
              </a:rPr>
              <a:t>型付きAIエージェント記述言語の設計と実装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520000" y="220000"/>
            <a:ext cx="11100000" cy="65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l"/>
            <a:r>
              <a:rPr lang="ja-JP" sz="3000" b="1">
                <a:solidFill>
                  <a:srgbClr val="17324D"/>
                </a:solidFill>
                <a:latin typeface="Yu Gothic"/>
                <a:ea typeface="Yu Gothic"/>
              </a:rPr>
              <a:t>AI効果・所有権・線形型</a:t>
            </a:r>
          </a:p>
        </p:txBody>
      </p:sp>
      <p:sp>
        <p:nvSpPr>
          <p:cNvPr id="20" name="Bullets 20"/>
          <p:cNvSpPr txBox="1"/>
          <p:nvPr/>
        </p:nvSpPr>
        <p:spPr>
          <a:xfrm>
            <a:off x="900000" y="1250000"/>
            <a:ext cx="10300000" cy="4300000"/>
          </a:xfrm>
          <a:prstGeom prst="rect">
            <a:avLst/>
          </a:prstGeom>
          <a:ln>
            <a:noFill/>
          </a:ln>
        </p:spPr>
        <p:txBody>
          <a:bodyPr wrap="square" lIns="60000" tIns="40000" rIns="60000" bIns="40000"/>
          <a:lstStyle/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Capability 効果: !{ai}, !{fs}, !{net}, !{mut}</a:t>
            </a:r>
          </a:p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AI呼び出しや外部I/Oをメソッド型に明示する</a:t>
            </a:r>
          </a:p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pub フィールドにより公開状態と内部状態を分離する</a:t>
            </a:r>
          </a:p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linear T により move 後の再利用を検出する</a:t>
            </a:r>
          </a:p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APIキー、セッション、外部資源の誤用防止に向く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0000" y="6400000"/>
            <a:ext cx="6000000" cy="26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l"/>
            <a:r>
              <a:rPr lang="ja-JP" sz="1100">
                <a:solidFill>
                  <a:srgbClr val="5F6368"/>
                </a:solidFill>
                <a:latin typeface="Yu Gothic"/>
                <a:ea typeface="Yu Gothic"/>
              </a:rPr>
              <a:t>型付きAIエージェント記述言語の設計と実装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520000" y="220000"/>
            <a:ext cx="11100000" cy="65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l"/>
            <a:r>
              <a:rPr lang="ja-JP" sz="3000" b="1">
                <a:solidFill>
                  <a:srgbClr val="17324D"/>
                </a:solidFill>
                <a:latin typeface="Yu Gothic"/>
                <a:ea typeface="Yu Gothic"/>
              </a:rPr>
              <a:t>実装構成</a:t>
            </a:r>
          </a:p>
        </p:txBody>
      </p:sp>
      <p:sp>
        <p:nvSpPr>
          <p:cNvPr id="20" name="Box 20"/>
          <p:cNvSpPr/>
          <p:nvPr/>
        </p:nvSpPr>
        <p:spPr>
          <a:xfrm>
            <a:off x="700000" y="1300000"/>
            <a:ext cx="2300000" cy="900000"/>
          </a:xfrm>
          <a:prstGeom prst="roundRect">
            <a:avLst/>
          </a:prstGeom>
          <a:solidFill>
            <a:srgbClr val="E8F0FE"/>
          </a:solidFill>
          <a:ln w="16000">
            <a:solidFill>
              <a:srgbClr val="4A67D6"/>
            </a:solidFill>
          </a:ln>
        </p:spPr>
        <p:txBody>
          <a:bodyPr wrap="square" anchor="ctr"/>
          <a:lstStyle/>
          <a:p>
            <a:pPr algn="ctr"/>
            <a:r>
              <a:rPr lang="ja-JP" sz="1900" b="1">
                <a:solidFill>
                  <a:srgbClr val="202124"/>
                </a:solidFill>
                <a:latin typeface="Yu Gothic"/>
                <a:ea typeface="Yu Gothic"/>
              </a:rPr>
              <a:t>OCaml版
基礎実行</a:t>
            </a:r>
          </a:p>
        </p:txBody>
      </p:sp>
      <p:sp>
        <p:nvSpPr>
          <p:cNvPr id="21" name="Box 21"/>
          <p:cNvSpPr/>
          <p:nvPr/>
        </p:nvSpPr>
        <p:spPr>
          <a:xfrm>
            <a:off x="3450000" y="1300000"/>
            <a:ext cx="2300000" cy="900000"/>
          </a:xfrm>
          <a:prstGeom prst="roundRect">
            <a:avLst/>
          </a:prstGeom>
          <a:solidFill>
            <a:srgbClr val="E6F4EA"/>
          </a:solidFill>
          <a:ln w="16000">
            <a:solidFill>
              <a:srgbClr val="188038"/>
            </a:solidFill>
          </a:ln>
        </p:spPr>
        <p:txBody>
          <a:bodyPr wrap="square" anchor="ctr"/>
          <a:lstStyle/>
          <a:p>
            <a:pPr algn="ctr"/>
            <a:r>
              <a:rPr lang="ja-JP" sz="1900" b="1">
                <a:solidFill>
                  <a:srgbClr val="202124"/>
                </a:solidFill>
                <a:latin typeface="Yu Gothic"/>
                <a:ea typeface="Yu Gothic"/>
              </a:rPr>
              <a:t>Python版
研究機能</a:t>
            </a:r>
          </a:p>
        </p:txBody>
      </p:sp>
      <p:sp>
        <p:nvSpPr>
          <p:cNvPr id="22" name="Box 22"/>
          <p:cNvSpPr/>
          <p:nvPr/>
        </p:nvSpPr>
        <p:spPr>
          <a:xfrm>
            <a:off x="6200000" y="1300000"/>
            <a:ext cx="2300000" cy="900000"/>
          </a:xfrm>
          <a:prstGeom prst="roundRect">
            <a:avLst/>
          </a:prstGeom>
          <a:solidFill>
            <a:srgbClr val="FEF7E0"/>
          </a:solidFill>
          <a:ln w="16000">
            <a:solidFill>
              <a:srgbClr val="F29900"/>
            </a:solidFill>
          </a:ln>
        </p:spPr>
        <p:txBody>
          <a:bodyPr wrap="square" anchor="ctr"/>
          <a:lstStyle/>
          <a:p>
            <a:pPr algn="ctr"/>
            <a:r>
              <a:rPr lang="ja-JP" sz="1900" b="1">
                <a:solidFill>
                  <a:srgbClr val="202124"/>
                </a:solidFill>
                <a:latin typeface="Yu Gothic"/>
                <a:ea typeface="Yu Gothic"/>
              </a:rPr>
              <a:t>JS版
ブラウザ</a:t>
            </a:r>
          </a:p>
        </p:txBody>
      </p:sp>
      <p:sp>
        <p:nvSpPr>
          <p:cNvPr id="23" name="Box 23"/>
          <p:cNvSpPr/>
          <p:nvPr/>
        </p:nvSpPr>
        <p:spPr>
          <a:xfrm>
            <a:off x="8950000" y="1300000"/>
            <a:ext cx="2300000" cy="900000"/>
          </a:xfrm>
          <a:prstGeom prst="roundRect">
            <a:avLst/>
          </a:prstGeom>
          <a:solidFill>
            <a:srgbClr val="FCE8E6"/>
          </a:solidFill>
          <a:ln w="16000">
            <a:solidFill>
              <a:srgbClr val="D93025"/>
            </a:solidFill>
          </a:ln>
        </p:spPr>
        <p:txBody>
          <a:bodyPr wrap="square" anchor="ctr"/>
          <a:lstStyle/>
          <a:p>
            <a:pPr algn="ctr"/>
            <a:r>
              <a:rPr lang="ja-JP" sz="1900" b="1">
                <a:solidFill>
                  <a:srgbClr val="202124"/>
                </a:solidFill>
                <a:latin typeface="Yu Gothic"/>
                <a:ea typeface="Yu Gothic"/>
              </a:rPr>
              <a:t>C版
pthread/SDL2</a:t>
            </a:r>
          </a:p>
        </p:txBody>
      </p:sp>
      <p:sp>
        <p:nvSpPr>
          <p:cNvPr id="24" name="Bullets 24"/>
          <p:cNvSpPr txBox="1"/>
          <p:nvPr/>
        </p:nvSpPr>
        <p:spPr>
          <a:xfrm>
            <a:off x="1050000" y="3100000"/>
            <a:ext cx="9700000" cy="1900000"/>
          </a:xfrm>
          <a:prstGeom prst="rect">
            <a:avLst/>
          </a:prstGeom>
          <a:ln>
            <a:noFill/>
          </a:ln>
        </p:spPr>
        <p:txBody>
          <a:bodyPr wrap="square" lIns="60000" tIns="40000" rIns="60000" bIns="40000"/>
          <a:lstStyle/>
          <a:p>
            <a:pPr marL="260000" indent="-180000">
              <a:buChar char="•"/>
            </a:pPr>
            <a:r>
              <a:rPr lang="ja-JP" sz="1750">
                <a:solidFill>
                  <a:srgbClr val="202124"/>
                </a:solidFill>
                <a:latin typeface="Yu Gothic"/>
                <a:ea typeface="Yu Gothic"/>
              </a:rPr>
              <a:t>OCaml版: パーサ、型推論、Threadランタイム、リモート/SDL/Web gateway</a:t>
            </a:r>
          </a:p>
          <a:p>
            <a:pPr marL="260000" indent="-180000">
              <a:buChar char="•"/>
            </a:pPr>
            <a:r>
              <a:rPr lang="ja-JP" sz="1750">
                <a:solidFill>
                  <a:srgbClr val="202124"/>
                </a:solidFill>
                <a:latin typeface="Yu Gothic"/>
                <a:ea typeface="Yu Gothic"/>
              </a:rPr>
              <a:t>Python版: 型注釈、効果、線形型、所有権、モデル検査、AI連携</a:t>
            </a:r>
          </a:p>
          <a:p>
            <a:pPr marL="260000" indent="-180000">
              <a:buChar char="•"/>
            </a:pPr>
            <a:r>
              <a:rPr lang="ja-JP" sz="1750">
                <a:solidFill>
                  <a:srgbClr val="202124"/>
                </a:solidFill>
                <a:latin typeface="Yu Gothic"/>
                <a:ea typeface="Yu Gothic"/>
              </a:rPr>
              <a:t>JS版: ブラウザ内実行とCanvas可視化</a:t>
            </a:r>
          </a:p>
          <a:p>
            <a:pPr marL="260000" indent="-180000">
              <a:buChar char="•"/>
            </a:pPr>
            <a:r>
              <a:rPr lang="ja-JP" sz="1750">
                <a:solidFill>
                  <a:srgbClr val="202124"/>
                </a:solidFill>
                <a:latin typeface="Yu Gothic"/>
                <a:ea typeface="Yu Gothic"/>
              </a:rPr>
              <a:t>C版: POSIX pthread、SDL2 GUI、Xinu風環境へのコード生成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0000" y="6400000"/>
            <a:ext cx="6000000" cy="26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l"/>
            <a:r>
              <a:rPr lang="ja-JP" sz="1100">
                <a:solidFill>
                  <a:srgbClr val="5F6368"/>
                </a:solidFill>
                <a:latin typeface="Yu Gothic"/>
                <a:ea typeface="Yu Gothic"/>
              </a:rPr>
              <a:t>型付きAIエージェント記述言語の設計と実装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520000" y="220000"/>
            <a:ext cx="11100000" cy="65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l"/>
            <a:r>
              <a:rPr lang="ja-JP" sz="3000" b="1">
                <a:solidFill>
                  <a:srgbClr val="17324D"/>
                </a:solidFill>
                <a:latin typeface="Yu Gothic"/>
                <a:ea typeface="Yu Gothic"/>
              </a:rPr>
              <a:t>評価: サンプルプログラム</a:t>
            </a:r>
          </a:p>
        </p:txBody>
      </p:sp>
      <p:sp>
        <p:nvSpPr>
          <p:cNvPr id="20" name="Bullets 20"/>
          <p:cNvSpPr txBox="1"/>
          <p:nvPr/>
        </p:nvSpPr>
        <p:spPr>
          <a:xfrm>
            <a:off x="900000" y="1200000"/>
            <a:ext cx="10300000" cy="4450000"/>
          </a:xfrm>
          <a:prstGeom prst="rect">
            <a:avLst/>
          </a:prstGeom>
          <a:ln>
            <a:noFill/>
          </a:ln>
        </p:spPr>
        <p:txBody>
          <a:bodyPr wrap="square" lIns="60000" tIns="40000" rIns="60000" bIns="40000"/>
          <a:lstStyle/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Counter / PingPong: 基本的なアクター生成、送信、返信</a:t>
            </a:r>
          </a:p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Bounded Buffer: 生産者・消費者、同期、キュー状態の可視化</a:t>
            </a:r>
          </a:p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Dining Philosophers: 資源獲得、競合、デッドロック観察</a:t>
            </a:r>
          </a:p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Line Rotation: GUI描画、周期実行、C/SDL2変換</a:t>
            </a:r>
          </a:p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AI samples: プロンプト、AI呼び出し、mock provider による検証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0000" y="6400000"/>
            <a:ext cx="6000000" cy="26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l"/>
            <a:r>
              <a:rPr lang="ja-JP" sz="1100">
                <a:solidFill>
                  <a:srgbClr val="5F6368"/>
                </a:solidFill>
                <a:latin typeface="Yu Gothic"/>
                <a:ea typeface="Yu Gothic"/>
              </a:rPr>
              <a:t>型付きAIエージェント記述言語の設計と実装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520000" y="220000"/>
            <a:ext cx="11100000" cy="65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l"/>
            <a:r>
              <a:rPr lang="ja-JP" sz="3000" b="1">
                <a:solidFill>
                  <a:srgbClr val="17324D"/>
                </a:solidFill>
                <a:latin typeface="Yu Gothic"/>
                <a:ea typeface="Yu Gothic"/>
              </a:rPr>
              <a:t>議論</a:t>
            </a:r>
          </a:p>
        </p:txBody>
      </p:sp>
      <p:sp>
        <p:nvSpPr>
          <p:cNvPr id="20" name="Bullets 20"/>
          <p:cNvSpPr txBox="1"/>
          <p:nvPr/>
        </p:nvSpPr>
        <p:spPr>
          <a:xfrm>
            <a:off x="900000" y="1250000"/>
            <a:ext cx="10300000" cy="4300000"/>
          </a:xfrm>
          <a:prstGeom prst="rect">
            <a:avLst/>
          </a:prstGeom>
          <a:ln>
            <a:noFill/>
          </a:ln>
        </p:spPr>
        <p:txBody>
          <a:bodyPr wrap="square" lIns="60000" tIns="40000" rIns="60000" bIns="40000"/>
          <a:lstStyle/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AI応答は非決定的であり、型だけで内容の正しさを保証することはできない</a:t>
            </a:r>
          </a:p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一方で、AIを呼ぶ場所、渡すデータ、同期点、権限は言語機能として明示できる</a:t>
            </a:r>
          </a:p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動的コンパイルと型検査は矛盾ではなく、検査境界を明示する設計として共存する</a:t>
            </a:r>
          </a:p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AIPLは閉じた世界の完全性より、AI生成コードを扱うための監査可能性を重視する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0000" y="6400000"/>
            <a:ext cx="6000000" cy="26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l"/>
            <a:r>
              <a:rPr lang="ja-JP" sz="1100">
                <a:solidFill>
                  <a:srgbClr val="5F6368"/>
                </a:solidFill>
                <a:latin typeface="Yu Gothic"/>
                <a:ea typeface="Yu Gothic"/>
              </a:rPr>
              <a:t>型付きAIエージェント記述言語の設計と実装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520000" y="220000"/>
            <a:ext cx="11100000" cy="65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l"/>
            <a:r>
              <a:rPr lang="ja-JP" sz="3000" b="1">
                <a:solidFill>
                  <a:srgbClr val="17324D"/>
                </a:solidFill>
                <a:latin typeface="Yu Gothic"/>
                <a:ea typeface="Yu Gothic"/>
              </a:rPr>
              <a:t>現時点の制限</a:t>
            </a:r>
          </a:p>
        </p:txBody>
      </p:sp>
      <p:sp>
        <p:nvSpPr>
          <p:cNvPr id="20" name="Bullets 20"/>
          <p:cNvSpPr txBox="1"/>
          <p:nvPr/>
        </p:nvSpPr>
        <p:spPr>
          <a:xfrm>
            <a:off x="900000" y="1250000"/>
            <a:ext cx="10300000" cy="4300000"/>
          </a:xfrm>
          <a:prstGeom prst="rect">
            <a:avLst/>
          </a:prstGeom>
          <a:ln>
            <a:noFill/>
          </a:ln>
        </p:spPr>
        <p:txBody>
          <a:bodyPr wrap="square" lIns="60000" tIns="40000" rIns="60000" bIns="40000"/>
          <a:lstStyle/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処理系間で実装済み機能に差がある</a:t>
            </a:r>
          </a:p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Python版のPhase 11以降の型付き構文はOCaml版で直接扱えない</a:t>
            </a:r>
          </a:p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C変換では become や select の一部に制限がある</a:t>
            </a:r>
          </a:p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ブラウザ実行では file:// よりローカルサーバ経由が安定する</a:t>
            </a:r>
          </a:p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共通中間表現と形式的意味論の整備が今後の課題である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0000" y="6400000"/>
            <a:ext cx="6000000" cy="26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l"/>
            <a:r>
              <a:rPr lang="ja-JP" sz="1100">
                <a:solidFill>
                  <a:srgbClr val="5F6368"/>
                </a:solidFill>
                <a:latin typeface="Yu Gothic"/>
                <a:ea typeface="Yu Gothic"/>
              </a:rPr>
              <a:t>型付きAIエージェント記述言語の設計と実装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520000" y="220000"/>
            <a:ext cx="11100000" cy="65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l"/>
            <a:r>
              <a:rPr lang="ja-JP" sz="3000" b="1">
                <a:solidFill>
                  <a:srgbClr val="17324D"/>
                </a:solidFill>
                <a:latin typeface="Yu Gothic"/>
                <a:ea typeface="Yu Gothic"/>
              </a:rPr>
              <a:t>まとめと今後の課題</a:t>
            </a:r>
          </a:p>
        </p:txBody>
      </p:sp>
      <p:sp>
        <p:nvSpPr>
          <p:cNvPr id="20" name="Bullets 20"/>
          <p:cNvSpPr txBox="1"/>
          <p:nvPr/>
        </p:nvSpPr>
        <p:spPr>
          <a:xfrm>
            <a:off x="900000" y="1200000"/>
            <a:ext cx="10300000" cy="4400000"/>
          </a:xfrm>
          <a:prstGeom prst="rect">
            <a:avLst/>
          </a:prstGeom>
          <a:ln>
            <a:noFill/>
          </a:ln>
        </p:spPr>
        <p:txBody>
          <a:bodyPr wrap="square" lIns="60000" tIns="40000" rIns="60000" bIns="40000"/>
          <a:lstStyle/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AIPLはAIエージェントを型付きアクターとして記述する研究言語である</a:t>
            </a:r>
          </a:p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通信、AI呼び出し、型、効果、所有権、構造化並行を同一モデルに統合した</a:t>
            </a:r>
          </a:p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複数処理系により、研究用実行、ブラウザ可視化、C変換を比較できる</a:t>
            </a:r>
          </a:p>
          <a:p>
            <a:pPr marL="260000" indent="-180000">
              <a:buChar char="•"/>
            </a:pPr>
            <a:r>
              <a:rPr lang="ja-JP" sz="2200">
                <a:solidFill>
                  <a:srgbClr val="202124"/>
                </a:solidFill>
                <a:latin typeface="Yu Gothic"/>
                <a:ea typeface="Yu Gothic"/>
              </a:rPr>
              <a:t>今後は共通仕様、型健全性の範囲、AI応答契約、権限モデルを整備する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800000" y="5750000"/>
            <a:ext cx="4400000" cy="42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ctr"/>
            <a:r>
              <a:rPr lang="ja-JP" sz="1900" b="1">
                <a:solidFill>
                  <a:srgbClr val="17324D"/>
                </a:solidFill>
                <a:latin typeface="Yu Gothic"/>
                <a:ea typeface="Yu Gothic"/>
              </a:rPr>
              <a:t>ご清聴ありがとうございました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0000" y="6400000"/>
            <a:ext cx="6000000" cy="260000"/>
          </a:xfrm>
          <a:prstGeom prst="rect">
            <a:avLst/>
          </a:prstGeom>
          <a:ln>
            <a:noFill/>
          </a:ln>
        </p:spPr>
        <p:txBody>
          <a:bodyPr wrap="square" lIns="80000" tIns="50000" rIns="80000" bIns="50000"/>
          <a:lstStyle/>
          <a:p>
            <a:pPr algn="l"/>
            <a:r>
              <a:rPr lang="ja-JP" sz="1100">
                <a:solidFill>
                  <a:srgbClr val="5F6368"/>
                </a:solidFill>
                <a:latin typeface="Yu Gothic"/>
                <a:ea typeface="Yu Gothic"/>
              </a:rPr>
              <a:t>型付きAIエージェント記述言語の設計と実装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PL Theme">
  <a:themeElements>
    <a:clrScheme name="AIPL">
      <a:dk1>
        <a:srgbClr val="202124"/>
      </a:dk1>
      <a:lt1>
        <a:srgbClr val="FFFFFF"/>
      </a:lt1>
      <a:dk2>
        <a:srgbClr val="17324D"/>
      </a:dk2>
      <a:lt2>
        <a:srgbClr val="F8F9FA"/>
      </a:lt2>
      <a:accent1>
        <a:srgbClr val="4A67D6"/>
      </a:accent1>
      <a:accent2>
        <a:srgbClr val="188038"/>
      </a:accent2>
      <a:accent3>
        <a:srgbClr val="F29900"/>
      </a:accent3>
      <a:accent4>
        <a:srgbClr val="D93025"/>
      </a:accent4>
      <a:accent5>
        <a:srgbClr val="9334E6"/>
      </a:accent5>
      <a:accent6>
        <a:srgbClr val="00ACC1"/>
      </a:accent6>
      <a:hlink>
        <a:srgbClr val="1155CC"/>
      </a:hlink>
      <a:folHlink>
        <a:srgbClr val="5E35B1"/>
      </a:folHlink>
    </a:clrScheme>
    <a:fontScheme name="AIPL">
      <a:majorFont>
        <a:latin typeface="Yu Gothic"/>
        <a:ea typeface="Yu Gothic"/>
        <a:cs typeface="Arial"/>
      </a:majorFont>
      <a:minorFont>
        <a:latin typeface="Yu Gothic"/>
        <a:ea typeface="Yu Gothic"/>
        <a:cs typeface="Arial"/>
      </a:minorFont>
    </a:fontScheme>
    <a:fmtScheme name="AIPL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Widescreen</PresentationFormat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型付きAIエージェント記述言語の設計と実装</dc:title>
  <dc:creator>児玉靖司（Yasushi Kodama）</dc:creator>
  <cp:lastModifiedBy>Codex</cp:lastModifiedBy>
</cp:coreProperties>
</file>